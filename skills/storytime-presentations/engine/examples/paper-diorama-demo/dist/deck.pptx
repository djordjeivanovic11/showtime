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</a:t>
            </a:r>
          </a:p>
          <a:p>
            <a:r>
              <a:rPr lang="en-US" dirty="0"/>
              <a:t>You wait a long time for a bus, and then two come together. Why does a regular schedule turn into a bunch?</a:t>
            </a:r>
          </a:p>
          <a:p>
            <a:endParaRPr lang="en-US" dirty="0"/>
          </a:p>
          <a:p>
            <a:r>
              <a:rPr lang="en-US" dirty="0"/>
              <a:t>CLICK</a:t>
            </a:r>
          </a:p>
          <a:p>
            <a:r>
              <a:rPr lang="en-US" dirty="0"/>
              <a:t>Click after the question.</a:t>
            </a:r>
          </a:p>
          <a:p>
            <a:endParaRPr lang="en-US" dirty="0"/>
          </a:p>
          <a:p>
            <a:r>
              <a:rPr lang="en-US" dirty="0"/>
              <a:t>IN PLAIN WORDS</a:t>
            </a:r>
          </a:p>
          <a:p>
            <a:r>
              <a:rPr lang="en-US" dirty="0"/>
              <a:t>This is an invented example to explain the mechanism, not measured city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</a:t>
            </a:r>
          </a:p>
          <a:p>
            <a:r>
              <a:rPr lang="en-US" dirty="0"/>
              <a:t>Start with two buses on one twenty-minute loop. The gap ahead of each bus is ten minutes. So a rider arriving at a random time waits five minutes on average.</a:t>
            </a:r>
          </a:p>
          <a:p>
            <a:endParaRPr lang="en-US" dirty="0"/>
          </a:p>
          <a:p>
            <a:r>
              <a:rPr lang="en-US" dirty="0"/>
              <a:t>CLICK</a:t>
            </a:r>
          </a:p>
          <a:p>
            <a:r>
              <a:rPr lang="en-US" dirty="0"/>
              <a:t>Click after 'five minutes on average.'</a:t>
            </a:r>
          </a:p>
          <a:p>
            <a:endParaRPr lang="en-US" dirty="0"/>
          </a:p>
          <a:p>
            <a:r>
              <a:rPr lang="en-US" dirty="0"/>
              <a:t>IN PLAIN WORDS</a:t>
            </a:r>
          </a:p>
          <a:p>
            <a:r>
              <a:rPr lang="en-US" dirty="0"/>
              <a:t>Even spacing means neither bus is close behind the other.</a:t>
            </a:r>
          </a:p>
          <a:p>
            <a:endParaRPr lang="en-US" dirty="0"/>
          </a:p>
          <a:p>
            <a:r>
              <a:rPr lang="en-US" dirty="0"/>
              <a:t>DETAIL</a:t>
            </a:r>
          </a:p>
          <a:p>
            <a:r>
              <a:rPr lang="en-US" dirty="0"/>
              <a:t>For gaps 10 and 10, expected wait is (10 squared + 10 squared) divided by 40: 5.0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</a:t>
            </a:r>
          </a:p>
          <a:p>
            <a:r>
              <a:rPr lang="en-US" dirty="0"/>
              <a:t>Now one stop gets crowded. Bus A spends longer boarding people. Its gap to the bus ahead grows to twelve minutes, while the gap to the bus behind shrinks to eight.</a:t>
            </a:r>
          </a:p>
          <a:p>
            <a:endParaRPr lang="en-US" dirty="0"/>
          </a:p>
          <a:p>
            <a:r>
              <a:rPr lang="en-US" dirty="0"/>
              <a:t>CLICK</a:t>
            </a:r>
          </a:p>
          <a:p>
            <a:r>
              <a:rPr lang="en-US" dirty="0"/>
              <a:t>Click after 'shrinks to eight.'</a:t>
            </a:r>
          </a:p>
          <a:p>
            <a:endParaRPr lang="en-US" dirty="0"/>
          </a:p>
          <a:p>
            <a:r>
              <a:rPr lang="en-US" dirty="0"/>
              <a:t>IN PLAIN WORDS</a:t>
            </a:r>
          </a:p>
          <a:p>
            <a:r>
              <a:rPr lang="en-US" dirty="0"/>
              <a:t>One delay makes the spacing uneven, even though there are still two buses.</a:t>
            </a:r>
          </a:p>
          <a:p>
            <a:endParaRPr lang="en-US" dirty="0"/>
          </a:p>
          <a:p>
            <a:r>
              <a:rPr lang="en-US" dirty="0"/>
              <a:t>DETAIL</a:t>
            </a:r>
          </a:p>
          <a:p>
            <a:r>
              <a:rPr lang="en-US" dirty="0"/>
              <a:t>The two gaps still add to one twenty-minute lap. At 12 and 8, the model gives a 5.2-minute average wait.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</a:t>
            </a:r>
          </a:p>
          <a:p>
            <a:r>
              <a:rPr lang="en-US" dirty="0"/>
              <a:t>A late bus meets more waiting riders, so its stops take longer. The bus behind finds emptier stops and catches up. In our example, the gaps become nineteen and one.</a:t>
            </a:r>
          </a:p>
          <a:p>
            <a:endParaRPr lang="en-US" dirty="0"/>
          </a:p>
          <a:p>
            <a:r>
              <a:rPr lang="en-US" dirty="0"/>
              <a:t>CLICK</a:t>
            </a:r>
          </a:p>
          <a:p>
            <a:r>
              <a:rPr lang="en-US" dirty="0"/>
              <a:t>Click after 'nineteen and one.'</a:t>
            </a:r>
          </a:p>
          <a:p>
            <a:endParaRPr lang="en-US" dirty="0"/>
          </a:p>
          <a:p>
            <a:r>
              <a:rPr lang="en-US" dirty="0"/>
              <a:t>IN PLAIN WORDS</a:t>
            </a:r>
          </a:p>
          <a:p>
            <a:r>
              <a:rPr lang="en-US" dirty="0"/>
              <a:t>The little delay feeds on itself until the buses travel almost together.</a:t>
            </a:r>
          </a:p>
          <a:p>
            <a:endParaRPr lang="en-US" dirty="0"/>
          </a:p>
          <a:p>
            <a:r>
              <a:rPr lang="en-US" dirty="0"/>
              <a:t>DETAIL</a:t>
            </a:r>
          </a:p>
          <a:p>
            <a:r>
              <a:rPr lang="en-US" dirty="0"/>
              <a:t>This is a feedback mechanism illustrated with chosen gaps; the slide is not a transit simulation.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</a:t>
            </a:r>
          </a:p>
          <a:p>
            <a:r>
              <a:rPr lang="en-US" dirty="0"/>
              <a:t>The number of buses never changed. But unequal gaps make a randomly arriving rider wait longer: five minutes becomes about nine. The point is the spacing, not just the timetable.</a:t>
            </a:r>
          </a:p>
          <a:p>
            <a:endParaRPr lang="en-US" dirty="0"/>
          </a:p>
          <a:p>
            <a:r>
              <a:rPr lang="en-US" dirty="0"/>
              <a:t>CLICK</a:t>
            </a:r>
          </a:p>
          <a:p>
            <a:r>
              <a:rPr lang="en-US" dirty="0"/>
              <a:t>End of demo.</a:t>
            </a:r>
          </a:p>
          <a:p>
            <a:endParaRPr lang="en-US" dirty="0"/>
          </a:p>
          <a:p>
            <a:r>
              <a:rPr lang="en-US" dirty="0"/>
              <a:t>IN PLAIN WORDS</a:t>
            </a:r>
          </a:p>
          <a:p>
            <a:r>
              <a:rPr lang="en-US" dirty="0"/>
              <a:t>When two buses come together, one leaves a long empty stretch behind it.</a:t>
            </a:r>
          </a:p>
          <a:p>
            <a:endParaRPr lang="en-US" dirty="0"/>
          </a:p>
          <a:p>
            <a:r>
              <a:rPr lang="en-US" dirty="0"/>
              <a:t>DETAIL</a:t>
            </a:r>
          </a:p>
          <a:p>
            <a:r>
              <a:rPr lang="en-US" dirty="0"/>
              <a:t>Expected wait is the sum of squared gaps divided by twice their sum. For 19 and 1: (361 + 1) / 40 = 9.05, rounded to 9.1 minutes. This is illustrative, not observed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1-7.png"/><Relationship Id="rId9" Type="http://schemas.openxmlformats.org/officeDocument/2006/relationships/image" Target="../media/image-1-8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1-7.png"/><Relationship Id="rId10" Type="http://schemas.openxmlformats.org/officeDocument/2006/relationships/image" Target="../media/image-1-8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4-6.png"/><Relationship Id="rId7" Type="http://schemas.openxmlformats.org/officeDocument/2006/relationships/image" Target="../media/image-3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1-7.png"/><Relationship Id="rId11" Type="http://schemas.openxmlformats.org/officeDocument/2006/relationships/image" Target="../media/image-1-8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5-5.png"/><Relationship Id="rId6" Type="http://schemas.openxmlformats.org/officeDocument/2006/relationships/image" Target="../media/image-4-6.png"/><Relationship Id="rId7" Type="http://schemas.openxmlformats.org/officeDocument/2006/relationships/image" Target="../media/image-3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1-7.png"/><Relationship Id="rId11" Type="http://schemas.openxmlformats.org/officeDocument/2006/relationships/image" Target="../media/image-1-8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paper-world" descr="A cut-paper town with a circular eight-stop bus rou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bus-a" descr="Paper bus A on the loo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250" y="3543300"/>
            <a:ext cx="1587500" cy="952500"/>
          </a:xfrm>
          <a:prstGeom prst="rect">
            <a:avLst/>
          </a:prstGeom>
        </p:spPr>
      </p:pic>
      <p:pic>
        <p:nvPicPr>
          <p:cNvPr id="4" name="!!bus-b" descr="Paper bus B on the loo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3543300"/>
            <a:ext cx="1587500" cy="952500"/>
          </a:xfrm>
          <a:prstGeom prst="rect">
            <a:avLst/>
          </a:prstGeom>
        </p:spPr>
      </p:pic>
      <p:pic>
        <p:nvPicPr>
          <p:cNvPr id="5" name="!!stop-pole" descr="Paper bus-stop sign with a timetab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0" y="4686300"/>
            <a:ext cx="1143000" cy="1841500"/>
          </a:xfrm>
          <a:prstGeom prst="rect">
            <a:avLst/>
          </a:prstGeom>
        </p:spPr>
      </p:pic>
      <p:pic>
        <p:nvPicPr>
          <p:cNvPr id="6" name="!!pip" descr="Pip, the paper rider, looks wai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2500" y="3746500"/>
            <a:ext cx="1905000" cy="2730500"/>
          </a:xfrm>
          <a:prstGeom prst="rect">
            <a:avLst/>
          </a:prstGeom>
        </p:spPr>
      </p:pic>
      <p:pic>
        <p:nvPicPr>
          <p:cNvPr id="7" name="!!hanging-title" descr="Why do buses come in bunches?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" y="1193800"/>
            <a:ext cx="6921500" cy="2413000"/>
          </a:xfrm>
          <a:prstGeom prst="rect">
            <a:avLst/>
          </a:prstGeom>
        </p:spPr>
      </p:pic>
      <p:pic>
        <p:nvPicPr>
          <p:cNvPr id="8" name="!!ui-stamp~e5228319" descr="ILLUSTRATIV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85300" y="330200"/>
            <a:ext cx="2438400" cy="647700"/>
          </a:xfrm>
          <a:prstGeom prst="rect">
            <a:avLst/>
          </a:prstGeom>
        </p:spPr>
      </p:pic>
      <p:pic>
        <p:nvPicPr>
          <p:cNvPr id="9" name="!!ui-source~6826876e" descr="Illustrative model · 2 buses, 8 stops, 20-minute loop · random arrival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3700" y="6311900"/>
            <a:ext cx="11074400" cy="4254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B2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paper-world" descr="A cut-paper town with a circular eight-stop bus rou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bus-a" descr="Paper bus A on the loo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250" y="3543300"/>
            <a:ext cx="1587500" cy="952500"/>
          </a:xfrm>
          <a:prstGeom prst="rect">
            <a:avLst/>
          </a:prstGeom>
        </p:spPr>
      </p:pic>
      <p:pic>
        <p:nvPicPr>
          <p:cNvPr id="4" name="!!bus-b" descr="Paper bus B on the loo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3543300"/>
            <a:ext cx="1587500" cy="952500"/>
          </a:xfrm>
          <a:prstGeom prst="rect">
            <a:avLst/>
          </a:prstGeom>
        </p:spPr>
      </p:pic>
      <p:pic>
        <p:nvPicPr>
          <p:cNvPr id="5" name="!!stop-pole" descr="Paper bus-stop sign with a timetab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0" y="4686300"/>
            <a:ext cx="1143000" cy="1841500"/>
          </a:xfrm>
          <a:prstGeom prst="rect">
            <a:avLst/>
          </a:prstGeom>
        </p:spPr>
      </p:pic>
      <p:pic>
        <p:nvPicPr>
          <p:cNvPr id="6" name="!!pip" descr="Pip, the paper rider, looks wai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2500" y="3746500"/>
            <a:ext cx="1905000" cy="2730500"/>
          </a:xfrm>
          <a:prstGeom prst="rect">
            <a:avLst/>
          </a:prstGeom>
        </p:spPr>
      </p:pic>
      <p:pic>
        <p:nvPicPr>
          <p:cNvPr id="7" name="!!gap-ribbon" descr="Paper ribbon: gap ahead of A is 10 minutes; ahead of B is 10 minut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5500" y="1162050"/>
            <a:ext cx="4826000" cy="1511300"/>
          </a:xfrm>
          <a:prstGeom prst="rect">
            <a:avLst/>
          </a:prstGeom>
        </p:spPr>
      </p:pic>
      <p:pic>
        <p:nvPicPr>
          <p:cNvPr id="8" name="!!ui-tag~7321ebc0" descr="every 10 minutes, on pap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152400"/>
            <a:ext cx="7950200" cy="1143000"/>
          </a:xfrm>
          <a:prstGeom prst="rect">
            <a:avLst/>
          </a:prstGeom>
        </p:spPr>
      </p:pic>
      <p:pic>
        <p:nvPicPr>
          <p:cNvPr id="9" name="!!ui-stamp~e5228319" descr="ILLUSTRATIV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5300" y="330200"/>
            <a:ext cx="2438400" cy="647700"/>
          </a:xfrm>
          <a:prstGeom prst="rect">
            <a:avLst/>
          </a:prstGeom>
        </p:spPr>
      </p:pic>
      <p:pic>
        <p:nvPicPr>
          <p:cNvPr id="10" name="!!ui-source~6826876e" descr="Illustrative model · 2 buses, 8 stops, 20-minute loop · random arrival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3700" y="6311900"/>
            <a:ext cx="11074400" cy="425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paper-world" descr="A cut-paper town with a circular eight-stop bus rou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bus-a" descr="Paper bus A on the loo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250" y="3543300"/>
            <a:ext cx="1587500" cy="952500"/>
          </a:xfrm>
          <a:prstGeom prst="rect">
            <a:avLst/>
          </a:prstGeom>
        </p:spPr>
      </p:pic>
      <p:pic>
        <p:nvPicPr>
          <p:cNvPr id="4" name="!!bus-b" descr="Paper bus B on the loo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0950" y="2882900"/>
            <a:ext cx="1587500" cy="952500"/>
          </a:xfrm>
          <a:prstGeom prst="rect">
            <a:avLst/>
          </a:prstGeom>
        </p:spPr>
      </p:pic>
      <p:pic>
        <p:nvPicPr>
          <p:cNvPr id="5" name="!!stop-pole" descr="Paper bus-stop sign with a timetab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0" y="4686300"/>
            <a:ext cx="1143000" cy="1841500"/>
          </a:xfrm>
          <a:prstGeom prst="rect">
            <a:avLst/>
          </a:prstGeom>
        </p:spPr>
      </p:pic>
      <p:pic>
        <p:nvPicPr>
          <p:cNvPr id="6" name="!!pip" descr="Pip, the paper rider, looks wai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2500" y="3746500"/>
            <a:ext cx="1905000" cy="2730500"/>
          </a:xfrm>
          <a:prstGeom prst="rect">
            <a:avLst/>
          </a:prstGeom>
        </p:spPr>
      </p:pic>
      <p:pic>
        <p:nvPicPr>
          <p:cNvPr id="7" name="!!gap-ribbon" descr="Paper ribbon: gap ahead of A is 12 minutes; ahead of B is 8 minut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5500" y="1162050"/>
            <a:ext cx="4826000" cy="1511300"/>
          </a:xfrm>
          <a:prstGeom prst="rect">
            <a:avLst/>
          </a:prstGeom>
        </p:spPr>
      </p:pic>
      <p:pic>
        <p:nvPicPr>
          <p:cNvPr id="8" name="!!waiting-riders" descr="Six cut-paper riders queue beside the delayed bu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3500" y="5105400"/>
            <a:ext cx="1905000" cy="1016000"/>
          </a:xfrm>
          <a:prstGeom prst="rect">
            <a:avLst/>
          </a:prstGeom>
        </p:spPr>
      </p:pic>
      <p:pic>
        <p:nvPicPr>
          <p:cNvPr id="9" name="!!ui-tag~7c6d3142" descr="one crowded stop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" y="152400"/>
            <a:ext cx="7950200" cy="1143000"/>
          </a:xfrm>
          <a:prstGeom prst="rect">
            <a:avLst/>
          </a:prstGeom>
        </p:spPr>
      </p:pic>
      <p:pic>
        <p:nvPicPr>
          <p:cNvPr id="10" name="!!ui-stamp~e5228319" descr="ILLUSTRATIV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85300" y="330200"/>
            <a:ext cx="2438400" cy="647700"/>
          </a:xfrm>
          <a:prstGeom prst="rect">
            <a:avLst/>
          </a:prstGeom>
        </p:spPr>
      </p:pic>
      <p:pic>
        <p:nvPicPr>
          <p:cNvPr id="11" name="!!ui-source~6826876e" descr="Illustrative model · 2 buses, 8 stops, 20-minute loop · random arrivals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3700" y="6311900"/>
            <a:ext cx="11074400" cy="425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paper-world" descr="A cut-paper town with a circular eight-stop bus rou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bus-a" descr="Paper bus A on the loo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250" y="3543300"/>
            <a:ext cx="1587500" cy="952500"/>
          </a:xfrm>
          <a:prstGeom prst="rect">
            <a:avLst/>
          </a:prstGeom>
        </p:spPr>
      </p:pic>
      <p:pic>
        <p:nvPicPr>
          <p:cNvPr id="4" name="!!bus-b" descr="Paper bus B on the loo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1750" y="3162300"/>
            <a:ext cx="1587500" cy="952500"/>
          </a:xfrm>
          <a:prstGeom prst="rect">
            <a:avLst/>
          </a:prstGeom>
        </p:spPr>
      </p:pic>
      <p:pic>
        <p:nvPicPr>
          <p:cNvPr id="5" name="!!stop-pole" descr="Paper bus-stop sign with a timetab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0" y="4686300"/>
            <a:ext cx="1143000" cy="1841500"/>
          </a:xfrm>
          <a:prstGeom prst="rect">
            <a:avLst/>
          </a:prstGeom>
        </p:spPr>
      </p:pic>
      <p:pic>
        <p:nvPicPr>
          <p:cNvPr id="6" name="!!pip" descr="Pip, the paper rider, looks wai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2500" y="3746500"/>
            <a:ext cx="1905000" cy="2730500"/>
          </a:xfrm>
          <a:prstGeom prst="rect">
            <a:avLst/>
          </a:prstGeom>
        </p:spPr>
      </p:pic>
      <p:pic>
        <p:nvPicPr>
          <p:cNvPr id="7" name="!!gap-ribbon" descr="Paper ribbon: gap ahead of A is 19 minutes; ahead of B is 1 minut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5500" y="1162050"/>
            <a:ext cx="4826000" cy="1511300"/>
          </a:xfrm>
          <a:prstGeom prst="rect">
            <a:avLst/>
          </a:prstGeom>
        </p:spPr>
      </p:pic>
      <p:pic>
        <p:nvPicPr>
          <p:cNvPr id="8" name="!!waiting-riders" descr="Six riders still wait at the stop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3500" y="5105400"/>
            <a:ext cx="1905000" cy="1016000"/>
          </a:xfrm>
          <a:prstGeom prst="rect">
            <a:avLst/>
          </a:prstGeom>
        </p:spPr>
      </p:pic>
      <p:pic>
        <p:nvPicPr>
          <p:cNvPr id="9" name="!!feedback-wheel" descr="Paper loop: late bus, more riders, longer boarding, later bu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9500" y="3714750"/>
            <a:ext cx="3937000" cy="1651000"/>
          </a:xfrm>
          <a:prstGeom prst="rect">
            <a:avLst/>
          </a:prstGeom>
        </p:spPr>
      </p:pic>
      <p:pic>
        <p:nvPicPr>
          <p:cNvPr id="10" name="!!ui-tag~fc7b7cb1" descr="late buses get later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600" y="152400"/>
            <a:ext cx="7950200" cy="1143000"/>
          </a:xfrm>
          <a:prstGeom prst="rect">
            <a:avLst/>
          </a:prstGeom>
        </p:spPr>
      </p:pic>
      <p:pic>
        <p:nvPicPr>
          <p:cNvPr id="11" name="!!ui-stamp~e5228319" descr="ILLUSTRATIV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85300" y="330200"/>
            <a:ext cx="2438400" cy="647700"/>
          </a:xfrm>
          <a:prstGeom prst="rect">
            <a:avLst/>
          </a:prstGeom>
        </p:spPr>
      </p:pic>
      <p:pic>
        <p:nvPicPr>
          <p:cNvPr id="12" name="!!ui-source~6826876e" descr="Illustrative model · 2 buses, 8 stops, 20-minute loop · random arrivals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3700" y="6311900"/>
            <a:ext cx="11074400" cy="425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2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paper-world" descr="A cut-paper town with a circular eight-stop bus rou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bus-a" descr="Paper bus A on the loo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250" y="3543300"/>
            <a:ext cx="1587500" cy="952500"/>
          </a:xfrm>
          <a:prstGeom prst="rect">
            <a:avLst/>
          </a:prstGeom>
        </p:spPr>
      </p:pic>
      <p:pic>
        <p:nvPicPr>
          <p:cNvPr id="4" name="!!bus-b" descr="Paper bus B on the loo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1750" y="3162300"/>
            <a:ext cx="1587500" cy="952500"/>
          </a:xfrm>
          <a:prstGeom prst="rect">
            <a:avLst/>
          </a:prstGeom>
        </p:spPr>
      </p:pic>
      <p:pic>
        <p:nvPicPr>
          <p:cNvPr id="5" name="!!stop-pole" descr="Paper bus-stop sign with a timetab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0" y="4686300"/>
            <a:ext cx="1143000" cy="1841500"/>
          </a:xfrm>
          <a:prstGeom prst="rect">
            <a:avLst/>
          </a:prstGeom>
        </p:spPr>
      </p:pic>
      <p:pic>
        <p:nvPicPr>
          <p:cNvPr id="6" name="!!pip" descr="Pip, the paper rider, looks alarme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2500" y="3746500"/>
            <a:ext cx="1905000" cy="2730500"/>
          </a:xfrm>
          <a:prstGeom prst="rect">
            <a:avLst/>
          </a:prstGeom>
        </p:spPr>
      </p:pic>
      <p:pic>
        <p:nvPicPr>
          <p:cNvPr id="7" name="!!gap-ribbon" descr="Paper ribbon: gap ahead of A is 19 minutes; ahead of B is 1 minut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5500" y="1162050"/>
            <a:ext cx="4826000" cy="1511300"/>
          </a:xfrm>
          <a:prstGeom prst="rect">
            <a:avLst/>
          </a:prstGeom>
        </p:spPr>
      </p:pic>
      <p:pic>
        <p:nvPicPr>
          <p:cNvPr id="8" name="!!waiting-riders" descr="Six riders still wait at the stop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3500" y="5105400"/>
            <a:ext cx="1905000" cy="1016000"/>
          </a:xfrm>
          <a:prstGeom prst="rect">
            <a:avLst/>
          </a:prstGeom>
        </p:spPr>
      </p:pic>
      <p:pic>
        <p:nvPicPr>
          <p:cNvPr id="9" name="!!wait-reveal" descr="Illustrative average wait rises from 5.0 to 9.1 minute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13000" y="2336800"/>
            <a:ext cx="7302500" cy="2286000"/>
          </a:xfrm>
          <a:prstGeom prst="rect">
            <a:avLst/>
          </a:prstGeom>
        </p:spPr>
      </p:pic>
      <p:pic>
        <p:nvPicPr>
          <p:cNvPr id="10" name="!!ui-tag~10932e0a" descr="longer wait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600" y="152400"/>
            <a:ext cx="7950200" cy="1143000"/>
          </a:xfrm>
          <a:prstGeom prst="rect">
            <a:avLst/>
          </a:prstGeom>
        </p:spPr>
      </p:pic>
      <p:pic>
        <p:nvPicPr>
          <p:cNvPr id="11" name="!!ui-stamp~e5228319" descr="ILLUSTRATIV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85300" y="330200"/>
            <a:ext cx="2438400" cy="647700"/>
          </a:xfrm>
          <a:prstGeom prst="rect">
            <a:avLst/>
          </a:prstGeom>
        </p:spPr>
      </p:pic>
      <p:pic>
        <p:nvPicPr>
          <p:cNvPr id="12" name="!!ui-source~6826876e" descr="Illustrative model · 2 buses, 8 stops, 20-minute loop · random arrivals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3700" y="6311900"/>
            <a:ext cx="11074400" cy="425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do buses come in bunches? · Paper Diorama</dc:title>
  <dc:subject>PptxGenJS Presentation</dc:subject>
  <dc:creator>PptxGenJS</dc:creator>
  <cp:lastModifiedBy>PptxGenJS</cp:lastModifiedBy>
  <cp:revision>1</cp:revision>
  <dcterms:created xsi:type="dcterms:W3CDTF">2026-10-16T20:24:31Z</dcterms:created>
  <dcterms:modified xsi:type="dcterms:W3CDTF">2026-10-16T20:24:31Z</dcterms:modified>
</cp:coreProperties>
</file>
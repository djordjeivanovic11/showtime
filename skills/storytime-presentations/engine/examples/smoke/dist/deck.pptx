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</a:t>
            </a:r>
          </a:p>
          <a:p>
            <a:r>
              <a:rPr lang="en-US" dirty="0"/>
              <a:t>You wait twenty minutes for a bus, and then two arrive at once. Why?</a:t>
            </a:r>
          </a:p>
          <a:p>
            <a:endParaRPr lang="en-US" dirty="0"/>
          </a:p>
          <a:p>
            <a:r>
              <a:rPr lang="en-US" dirty="0"/>
              <a:t>CLICK</a:t>
            </a:r>
          </a:p>
          <a:p>
            <a:r>
              <a:rPr lang="en-US" dirty="0"/>
              <a:t>Click after 'Why?'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</a:t>
            </a:r>
          </a:p>
          <a:p>
            <a:r>
              <a:rPr lang="en-US" dirty="0"/>
              <a:t>On paper, two buses share one loop, ten minutes apart.</a:t>
            </a:r>
          </a:p>
          <a:p>
            <a:endParaRPr lang="en-US" dirty="0"/>
          </a:p>
          <a:p>
            <a:r>
              <a:rPr lang="en-US" dirty="0"/>
              <a:t>CLICK</a:t>
            </a:r>
          </a:p>
          <a:p>
            <a:r>
              <a:rPr lang="en-US" dirty="0"/>
              <a:t>Click after 'ten minutes apart.'</a:t>
            </a:r>
          </a:p>
          <a:p>
            <a:endParaRPr lang="en-US" dirty="0"/>
          </a:p>
          <a:p>
            <a:r>
              <a:rPr lang="en-US" dirty="0"/>
              <a:t>IN PLAIN WORDS</a:t>
            </a:r>
          </a:p>
          <a:p>
            <a:r>
              <a:rPr lang="en-US" dirty="0"/>
              <a:t>The timetable spaces buses evenly.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</a:t>
            </a:r>
          </a:p>
          <a:p>
            <a:r>
              <a:rPr lang="en-US" dirty="0"/>
              <a:t>Bus A falls a little behind, so more riders are waiting at each stop.</a:t>
            </a:r>
          </a:p>
          <a:p>
            <a:endParaRPr lang="en-US" dirty="0"/>
          </a:p>
          <a:p>
            <a:r>
              <a:rPr lang="en-US" dirty="0"/>
              <a:t>CLICK</a:t>
            </a:r>
          </a:p>
          <a:p>
            <a:r>
              <a:rPr lang="en-US" dirty="0"/>
              <a:t>Click after 'each stop.'</a:t>
            </a:r>
          </a:p>
          <a:p>
            <a:endParaRPr lang="en-US" dirty="0"/>
          </a:p>
          <a:p>
            <a:r>
              <a:rPr lang="en-US" dirty="0"/>
              <a:t>DETAIL</a:t>
            </a:r>
          </a:p>
          <a:p>
            <a:r>
              <a:rPr lang="en-US" dirty="0"/>
              <a:t>Dwell time grows with the number of boarding riders.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</a:t>
            </a:r>
          </a:p>
          <a:p>
            <a:r>
              <a:rPr lang="en-US" dirty="0"/>
              <a:t>More riders means longer stops, so the late bus gets later and the next bus catches up.</a:t>
            </a:r>
          </a:p>
          <a:p>
            <a:endParaRPr lang="en-US" dirty="0"/>
          </a:p>
          <a:p>
            <a:r>
              <a:rPr lang="en-US" dirty="0"/>
              <a:t>CLICK</a:t>
            </a:r>
          </a:p>
          <a:p>
            <a:r>
              <a:rPr lang="en-US" dirty="0"/>
              <a:t>End of smoke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1-4.png"/><Relationship Id="rId7" Type="http://schemas.openxmlformats.org/officeDocument/2006/relationships/image" Target="../media/image-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1-4.png"/><Relationship Id="rId7" Type="http://schemas.openxmlformats.org/officeDocument/2006/relationships/image" Target="../media/image-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1-4.png"/><Relationship Id="rId8" Type="http://schemas.openxmlformats.org/officeDocument/2006/relationships/image" Target="../media/image-1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ap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title~d73c874b" descr="Why do buses come in bunches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2019300"/>
            <a:ext cx="9677400" cy="1041400"/>
          </a:xfrm>
          <a:prstGeom prst="rect">
            <a:avLst/>
          </a:prstGeom>
        </p:spPr>
      </p:pic>
      <p:pic>
        <p:nvPicPr>
          <p:cNvPr id="4" name="!!bus-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556000"/>
            <a:ext cx="1651000" cy="908050"/>
          </a:xfrm>
          <a:prstGeom prst="rect">
            <a:avLst/>
          </a:prstGeom>
        </p:spPr>
      </p:pic>
      <p:pic>
        <p:nvPicPr>
          <p:cNvPr id="5" name="!!ui-stamp~54774fa5" descr="ILLUSTRAT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9400" y="254000"/>
            <a:ext cx="2692400" cy="609600"/>
          </a:xfrm>
          <a:prstGeom prst="rect">
            <a:avLst/>
          </a:prstGeom>
        </p:spPr>
      </p:pic>
      <p:pic>
        <p:nvPicPr>
          <p:cNvPr id="6" name="!!ui-source~8bcf889d" descr="illustrative scenario · 2 buses, 8 stops, 20-minute loo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6273800"/>
            <a:ext cx="9677400" cy="457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ap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route" descr="A loop route with four sto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1397000"/>
            <a:ext cx="8890000" cy="3810000"/>
          </a:xfrm>
          <a:prstGeom prst="rect">
            <a:avLst/>
          </a:prstGeom>
        </p:spPr>
      </p:pic>
      <p:pic>
        <p:nvPicPr>
          <p:cNvPr id="4" name="!!bus-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2540000"/>
            <a:ext cx="1270000" cy="698500"/>
          </a:xfrm>
          <a:prstGeom prst="rect">
            <a:avLst/>
          </a:prstGeom>
        </p:spPr>
      </p:pic>
      <p:pic>
        <p:nvPicPr>
          <p:cNvPr id="5" name="!!label~372148a6" descr="BUS A · ON TI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0" y="4749800"/>
            <a:ext cx="4216400" cy="558800"/>
          </a:xfrm>
          <a:prstGeom prst="rect">
            <a:avLst/>
          </a:prstGeom>
        </p:spPr>
      </p:pic>
      <p:pic>
        <p:nvPicPr>
          <p:cNvPr id="6" name="!!ui-tag~76283172" descr="every 10 minutes, on pap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77800"/>
            <a:ext cx="8026400" cy="914400"/>
          </a:xfrm>
          <a:prstGeom prst="rect">
            <a:avLst/>
          </a:prstGeom>
        </p:spPr>
      </p:pic>
      <p:pic>
        <p:nvPicPr>
          <p:cNvPr id="7" name="!!ui-stamp~54774fa5" descr="ILLUSTRATIV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9400" y="254000"/>
            <a:ext cx="2692400" cy="609600"/>
          </a:xfrm>
          <a:prstGeom prst="rect">
            <a:avLst/>
          </a:prstGeom>
        </p:spPr>
      </p:pic>
      <p:pic>
        <p:nvPicPr>
          <p:cNvPr id="8" name="!!ui-source~8bcf889d" descr="illustrative scenario · 2 buses, 8 stops, 20-minute loo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200" y="6273800"/>
            <a:ext cx="96774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ap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rou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1397000"/>
            <a:ext cx="8890000" cy="3810000"/>
          </a:xfrm>
          <a:prstGeom prst="rect">
            <a:avLst/>
          </a:prstGeom>
        </p:spPr>
      </p:pic>
      <p:pic>
        <p:nvPicPr>
          <p:cNvPr id="4" name="!!bus-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5461000" y="1524000"/>
            <a:ext cx="1270000" cy="698500"/>
          </a:xfrm>
          <a:prstGeom prst="rect">
            <a:avLst/>
          </a:prstGeom>
        </p:spPr>
      </p:pic>
      <p:pic>
        <p:nvPicPr>
          <p:cNvPr id="5" name="!!label~228457cb" descr="BUS A · LA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0" y="4749800"/>
            <a:ext cx="4216400" cy="558800"/>
          </a:xfrm>
          <a:prstGeom prst="rect">
            <a:avLst/>
          </a:prstGeom>
        </p:spPr>
      </p:pic>
      <p:pic>
        <p:nvPicPr>
          <p:cNvPr id="6" name="!!ui-tag~ce5c4709" descr="one bus runs la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77800"/>
            <a:ext cx="8026400" cy="914400"/>
          </a:xfrm>
          <a:prstGeom prst="rect">
            <a:avLst/>
          </a:prstGeom>
        </p:spPr>
      </p:pic>
      <p:pic>
        <p:nvPicPr>
          <p:cNvPr id="7" name="!!ui-stamp~54774fa5" descr="ILLUSTRATIV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9400" y="254000"/>
            <a:ext cx="2692400" cy="609600"/>
          </a:xfrm>
          <a:prstGeom prst="rect">
            <a:avLst/>
          </a:prstGeom>
        </p:spPr>
      </p:pic>
      <p:pic>
        <p:nvPicPr>
          <p:cNvPr id="8" name="!!ui-source~8bcf889d" descr="illustrative scenario · 2 buses, 8 stops, 20-minute loo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200" y="6273800"/>
            <a:ext cx="96774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ap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!!rout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1397000"/>
            <a:ext cx="8890000" cy="3810000"/>
          </a:xfrm>
          <a:prstGeom prst="rect">
            <a:avLst/>
          </a:prstGeom>
        </p:spPr>
      </p:pic>
      <p:pic>
        <p:nvPicPr>
          <p:cNvPr id="4" name="!!bus-b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2286000"/>
            <a:ext cx="1270000" cy="698500"/>
          </a:xfrm>
          <a:prstGeom prst="rect">
            <a:avLst/>
          </a:prstGeom>
        </p:spPr>
      </p:pic>
      <p:pic>
        <p:nvPicPr>
          <p:cNvPr id="5" name="!!bus-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500" y="2794000"/>
            <a:ext cx="1270000" cy="698500"/>
          </a:xfrm>
          <a:prstGeom prst="rect">
            <a:avLst/>
          </a:prstGeom>
        </p:spPr>
      </p:pic>
      <p:pic>
        <p:nvPicPr>
          <p:cNvPr id="6" name="!!label~abed2aa7" descr="LATE BUS → MORE RID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800" y="4749800"/>
            <a:ext cx="4216400" cy="558800"/>
          </a:xfrm>
          <a:prstGeom prst="rect">
            <a:avLst/>
          </a:prstGeom>
        </p:spPr>
      </p:pic>
      <p:pic>
        <p:nvPicPr>
          <p:cNvPr id="7" name="!!ui-tag~f008e1be" descr="late bus gets la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" y="177800"/>
            <a:ext cx="8026400" cy="914400"/>
          </a:xfrm>
          <a:prstGeom prst="rect">
            <a:avLst/>
          </a:prstGeom>
        </p:spPr>
      </p:pic>
      <p:pic>
        <p:nvPicPr>
          <p:cNvPr id="8" name="!!ui-stamp~54774fa5" descr="ILLUSTRATIV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9400" y="254000"/>
            <a:ext cx="2692400" cy="609600"/>
          </a:xfrm>
          <a:prstGeom prst="rect">
            <a:avLst/>
          </a:prstGeom>
        </p:spPr>
      </p:pic>
      <p:pic>
        <p:nvPicPr>
          <p:cNvPr id="9" name="!!ui-source~8bcf889d" descr="illustrative scenario · 2 buses, 8 stops, 20-minute loo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" y="6273800"/>
            <a:ext cx="96774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7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do buses come in bunches?</dc:title>
  <dc:subject>PptxGenJS Presentation</dc:subject>
  <dc:creator>PptxGenJS</dc:creator>
  <cp:lastModifiedBy>PptxGenJS</cp:lastModifiedBy>
  <cp:revision>1</cp:revision>
  <dcterms:created xsi:type="dcterms:W3CDTF">2026-10-16T20:20:16Z</dcterms:created>
  <dcterms:modified xsi:type="dcterms:W3CDTF">2026-10-16T20:20:16Z</dcterms:modified>
</cp:coreProperties>
</file>